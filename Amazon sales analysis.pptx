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70" r:id="rId5"/>
    <p:sldId id="258" r:id="rId6"/>
    <p:sldId id="260" r:id="rId7"/>
    <p:sldId id="273" r:id="rId8"/>
    <p:sldId id="261" r:id="rId9"/>
    <p:sldId id="262" r:id="rId10"/>
    <p:sldId id="263" r:id="rId11"/>
    <p:sldId id="264" r:id="rId12"/>
    <p:sldId id="267" r:id="rId13"/>
    <p:sldId id="265" r:id="rId14"/>
    <p:sldId id="266" r:id="rId15"/>
    <p:sldId id="274" r:id="rId16"/>
    <p:sldId id="269" r:id="rId17"/>
    <p:sldId id="271"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2/3/2026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14D13-8465-AD1F-18A7-A51A11A64EBC}"/>
              </a:ext>
            </a:extLst>
          </p:cNvPr>
          <p:cNvSpPr>
            <a:spLocks noGrp="1"/>
          </p:cNvSpPr>
          <p:nvPr>
            <p:ph type="ctrTitle"/>
          </p:nvPr>
        </p:nvSpPr>
        <p:spPr/>
        <p:txBody>
          <a:bodyPr/>
          <a:lstStyle/>
          <a:p>
            <a:r>
              <a:rPr lang="en-IN" dirty="0"/>
              <a:t>Amazon sales analysis</a:t>
            </a:r>
          </a:p>
        </p:txBody>
      </p:sp>
      <p:sp>
        <p:nvSpPr>
          <p:cNvPr id="3" name="Subtitle 2">
            <a:extLst>
              <a:ext uri="{FF2B5EF4-FFF2-40B4-BE49-F238E27FC236}">
                <a16:creationId xmlns:a16="http://schemas.microsoft.com/office/drawing/2014/main" id="{83ECB07F-38C7-A6BD-CF8E-390100E5B9B1}"/>
              </a:ext>
            </a:extLst>
          </p:cNvPr>
          <p:cNvSpPr>
            <a:spLocks noGrp="1"/>
          </p:cNvSpPr>
          <p:nvPr>
            <p:ph type="subTitle" idx="1"/>
          </p:nvPr>
        </p:nvSpPr>
        <p:spPr/>
        <p:txBody>
          <a:bodyPr/>
          <a:lstStyle/>
          <a:p>
            <a:r>
              <a:rPr lang="en-IN" dirty="0"/>
              <a:t> Tamilbharathi</a:t>
            </a:r>
          </a:p>
          <a:p>
            <a:r>
              <a:rPr lang="en-IN" dirty="0"/>
              <a:t>27.01.2026</a:t>
            </a:r>
          </a:p>
          <a:p>
            <a:endParaRPr lang="en-IN" dirty="0"/>
          </a:p>
        </p:txBody>
      </p:sp>
    </p:spTree>
    <p:extLst>
      <p:ext uri="{BB962C8B-B14F-4D97-AF65-F5344CB8AC3E}">
        <p14:creationId xmlns:p14="http://schemas.microsoft.com/office/powerpoint/2010/main" val="718839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BA290-9D96-C4B8-6F3F-14CF8DD865EF}"/>
              </a:ext>
            </a:extLst>
          </p:cNvPr>
          <p:cNvSpPr>
            <a:spLocks noGrp="1"/>
          </p:cNvSpPr>
          <p:nvPr>
            <p:ph type="title"/>
          </p:nvPr>
        </p:nvSpPr>
        <p:spPr/>
        <p:txBody>
          <a:bodyPr/>
          <a:lstStyle/>
          <a:p>
            <a:r>
              <a:rPr lang="en-IN" b="1" dirty="0"/>
              <a:t>introduction</a:t>
            </a:r>
          </a:p>
        </p:txBody>
      </p:sp>
      <p:sp>
        <p:nvSpPr>
          <p:cNvPr id="3" name="Content Placeholder 2">
            <a:extLst>
              <a:ext uri="{FF2B5EF4-FFF2-40B4-BE49-F238E27FC236}">
                <a16:creationId xmlns:a16="http://schemas.microsoft.com/office/drawing/2014/main" id="{1C56EF68-3CBB-796C-6065-6F07D74B2A5B}"/>
              </a:ext>
            </a:extLst>
          </p:cNvPr>
          <p:cNvSpPr>
            <a:spLocks noGrp="1"/>
          </p:cNvSpPr>
          <p:nvPr>
            <p:ph idx="1"/>
          </p:nvPr>
        </p:nvSpPr>
        <p:spPr>
          <a:xfrm>
            <a:off x="685801" y="2065867"/>
            <a:ext cx="10131425" cy="4043988"/>
          </a:xfrm>
        </p:spPr>
        <p:txBody>
          <a:bodyPr>
            <a:normAutofit/>
          </a:bodyPr>
          <a:lstStyle/>
          <a:p>
            <a:pPr>
              <a:lnSpc>
                <a:spcPct val="150000"/>
              </a:lnSpc>
            </a:pPr>
            <a:r>
              <a:rPr lang="en-US" sz="2000" dirty="0"/>
              <a:t>Amazon is one of the world’s largest e-commerce platforms, generating massive amounts of sales data daily. Analyzing this data helps understand customer behavior, sales trends, top-performing products, and regional performance.</a:t>
            </a:r>
          </a:p>
          <a:p>
            <a:pPr>
              <a:lnSpc>
                <a:spcPct val="150000"/>
              </a:lnSpc>
            </a:pPr>
            <a:r>
              <a:rPr lang="en-US" sz="2000" dirty="0"/>
              <a:t>Power BI is a business intelligence and data visualization tool that transforms raw data into interactive dashboards and reports. It helps users explore data, identify insights, and make data-driven decisions quickly and effectively.</a:t>
            </a:r>
          </a:p>
          <a:p>
            <a:pPr>
              <a:lnSpc>
                <a:spcPct val="150000"/>
              </a:lnSpc>
            </a:pPr>
            <a:r>
              <a:rPr lang="en-US" altLang="en-US" sz="2000" dirty="0">
                <a:latin typeface="Calibri" panose="020F0502020204030204" pitchFamily="34" charset="0"/>
                <a:ea typeface="Calibri" panose="020F0502020204030204" pitchFamily="34" charset="0"/>
                <a:cs typeface="Calibri" panose="020F0502020204030204" pitchFamily="34" charset="0"/>
              </a:rPr>
              <a:t>A Power BI dashboard can simplify analysis and provide actionable insights.</a:t>
            </a:r>
          </a:p>
          <a:p>
            <a:pPr>
              <a:lnSpc>
                <a:spcPct val="150000"/>
              </a:lnSpc>
            </a:pPr>
            <a:endParaRPr lang="en-IN" sz="2000" dirty="0"/>
          </a:p>
        </p:txBody>
      </p:sp>
    </p:spTree>
    <p:extLst>
      <p:ext uri="{BB962C8B-B14F-4D97-AF65-F5344CB8AC3E}">
        <p14:creationId xmlns:p14="http://schemas.microsoft.com/office/powerpoint/2010/main" val="3403158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B55C9-BA25-8016-975A-36933EB7C3E8}"/>
              </a:ext>
            </a:extLst>
          </p:cNvPr>
          <p:cNvSpPr>
            <a:spLocks noGrp="1"/>
          </p:cNvSpPr>
          <p:nvPr>
            <p:ph type="title"/>
          </p:nvPr>
        </p:nvSpPr>
        <p:spPr>
          <a:xfrm>
            <a:off x="685801" y="259774"/>
            <a:ext cx="10131425" cy="883226"/>
          </a:xfrm>
        </p:spPr>
        <p:txBody>
          <a:bodyPr/>
          <a:lstStyle/>
          <a:p>
            <a:r>
              <a:rPr lang="en-IN" b="1" dirty="0"/>
              <a:t>Data overview</a:t>
            </a:r>
          </a:p>
        </p:txBody>
      </p:sp>
      <p:sp>
        <p:nvSpPr>
          <p:cNvPr id="4" name="Rectangle 1">
            <a:extLst>
              <a:ext uri="{FF2B5EF4-FFF2-40B4-BE49-F238E27FC236}">
                <a16:creationId xmlns:a16="http://schemas.microsoft.com/office/drawing/2014/main" id="{53826F14-4C82-4F88-3BB9-466E413131BB}"/>
              </a:ext>
            </a:extLst>
          </p:cNvPr>
          <p:cNvSpPr>
            <a:spLocks noGrp="1" noChangeArrowheads="1"/>
          </p:cNvSpPr>
          <p:nvPr>
            <p:ph idx="1"/>
          </p:nvPr>
        </p:nvSpPr>
        <p:spPr bwMode="auto">
          <a:xfrm>
            <a:off x="685801" y="1062364"/>
            <a:ext cx="9065302" cy="5122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000" b="0" i="0" u="none" strike="noStrike" cap="none" normalizeH="0" baseline="0" dirty="0">
                <a:ln>
                  <a:noFill/>
                </a:ln>
                <a:solidFill>
                  <a:schemeClr val="tx1"/>
                </a:solidFill>
                <a:effectLst/>
              </a:rPr>
              <a:t>Source: Amazon sales Excel database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000" b="0" i="0" u="none" strike="noStrike" cap="none" normalizeH="0" baseline="0" dirty="0">
                <a:ln>
                  <a:noFill/>
                </a:ln>
                <a:solidFill>
                  <a:schemeClr val="tx1"/>
                </a:solidFill>
                <a:effectLst/>
              </a:rPr>
              <a:t>Data Fields:</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rPr>
              <a:t>Order ID</a:t>
            </a:r>
            <a:endParaRPr lang="en-US" altLang="en-US" sz="2000" dirty="0"/>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rPr>
              <a:t>Product Name &amp; Category</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2000" dirty="0"/>
              <a:t>Product ID</a:t>
            </a:r>
            <a:endParaRPr kumimoji="0" lang="en-US" altLang="en-US" sz="2000" b="0" i="0" u="none" strike="noStrike" cap="none" normalizeH="0" baseline="0" dirty="0">
              <a:ln>
                <a:noFill/>
              </a:ln>
              <a:solidFill>
                <a:schemeClr val="tx1"/>
              </a:solidFill>
              <a:effectLst/>
            </a:endParaRP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rPr>
              <a:t>Units Sold &amp; Quantity</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2000" dirty="0"/>
              <a:t>Amount</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rPr>
              <a:t>Order Date</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rPr>
              <a:t>Customer Location</a:t>
            </a: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err="1">
                <a:ln>
                  <a:noFill/>
                </a:ln>
                <a:solidFill>
                  <a:schemeClr val="tx1"/>
                </a:solidFill>
                <a:effectLst/>
              </a:rPr>
              <a:t>CityID</a:t>
            </a:r>
            <a:endParaRPr kumimoji="0" lang="en-US" altLang="en-US" sz="2000" b="0" i="0" u="none" strike="noStrike" cap="none" normalizeH="0" baseline="0" dirty="0">
              <a:ln>
                <a:noFill/>
              </a:ln>
              <a:solidFill>
                <a:schemeClr val="tx1"/>
              </a:solidFill>
              <a:effectLst/>
            </a:endParaRPr>
          </a:p>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2000" dirty="0"/>
              <a:t>Payment method</a:t>
            </a: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293276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A4B7B-4BA2-73C2-5480-F9414493868A}"/>
              </a:ext>
            </a:extLst>
          </p:cNvPr>
          <p:cNvSpPr>
            <a:spLocks noGrp="1"/>
          </p:cNvSpPr>
          <p:nvPr>
            <p:ph type="title"/>
          </p:nvPr>
        </p:nvSpPr>
        <p:spPr>
          <a:xfrm>
            <a:off x="685801" y="609600"/>
            <a:ext cx="10131425" cy="710045"/>
          </a:xfrm>
        </p:spPr>
        <p:txBody>
          <a:bodyPr/>
          <a:lstStyle/>
          <a:p>
            <a:r>
              <a:rPr lang="en-IN" b="1" dirty="0"/>
              <a:t>Data cleaning and loading</a:t>
            </a:r>
          </a:p>
        </p:txBody>
      </p:sp>
      <p:sp>
        <p:nvSpPr>
          <p:cNvPr id="3" name="Content Placeholder 2">
            <a:extLst>
              <a:ext uri="{FF2B5EF4-FFF2-40B4-BE49-F238E27FC236}">
                <a16:creationId xmlns:a16="http://schemas.microsoft.com/office/drawing/2014/main" id="{76321334-9A6D-3B2B-6AF9-B38864536ED5}"/>
              </a:ext>
            </a:extLst>
          </p:cNvPr>
          <p:cNvSpPr>
            <a:spLocks noGrp="1"/>
          </p:cNvSpPr>
          <p:nvPr>
            <p:ph idx="1"/>
          </p:nvPr>
        </p:nvSpPr>
        <p:spPr>
          <a:xfrm>
            <a:off x="685801" y="1319645"/>
            <a:ext cx="10307781" cy="5208974"/>
          </a:xfrm>
        </p:spPr>
        <p:txBody>
          <a:bodyPr>
            <a:normAutofit fontScale="85000" lnSpcReduction="20000"/>
          </a:bodyPr>
          <a:lstStyle/>
          <a:p>
            <a:pPr>
              <a:lnSpc>
                <a:spcPct val="150000"/>
              </a:lnSpc>
            </a:pPr>
            <a:r>
              <a:rPr lang="en-IN" sz="2000" dirty="0"/>
              <a:t>The Best Tool For Cleaning And Preprocessing The Data Is Called As Power Query Editor.</a:t>
            </a:r>
          </a:p>
          <a:p>
            <a:pPr>
              <a:lnSpc>
                <a:spcPct val="150000"/>
              </a:lnSpc>
            </a:pPr>
            <a:r>
              <a:rPr lang="en-IN" sz="2000" dirty="0"/>
              <a:t>Power Query Is used for cleaning and preprocessing the data.</a:t>
            </a:r>
          </a:p>
          <a:p>
            <a:pPr>
              <a:lnSpc>
                <a:spcPct val="150000"/>
              </a:lnSpc>
            </a:pPr>
            <a:r>
              <a:rPr lang="en-IN" sz="2000" dirty="0"/>
              <a:t>It Is Used For Extracting The Data, Transforming The Data And Loading The Data Into Power Bi.</a:t>
            </a:r>
          </a:p>
          <a:p>
            <a:pPr>
              <a:lnSpc>
                <a:spcPct val="150000"/>
              </a:lnSpc>
            </a:pPr>
            <a:r>
              <a:rPr lang="en-US" altLang="en-US" sz="2000" dirty="0"/>
              <a:t>Data Cleaning:</a:t>
            </a:r>
          </a:p>
          <a:p>
            <a:pPr marL="457200" indent="-457200">
              <a:lnSpc>
                <a:spcPct val="150000"/>
              </a:lnSpc>
              <a:buFont typeface="+mj-lt"/>
              <a:buAutoNum type="arabicPeriod"/>
            </a:pPr>
            <a:r>
              <a:rPr lang="en-US" altLang="en-US" sz="2000" dirty="0"/>
              <a:t> Missing values removed.</a:t>
            </a:r>
          </a:p>
          <a:p>
            <a:pPr marL="457200" indent="-457200">
              <a:lnSpc>
                <a:spcPct val="150000"/>
              </a:lnSpc>
              <a:buFont typeface="+mj-lt"/>
              <a:buAutoNum type="arabicPeriod"/>
            </a:pPr>
            <a:r>
              <a:rPr lang="en-US" altLang="en-US" sz="2000" dirty="0"/>
              <a:t> extract month, year and day from order date.</a:t>
            </a:r>
          </a:p>
          <a:p>
            <a:pPr marL="457200" indent="-457200">
              <a:lnSpc>
                <a:spcPct val="150000"/>
              </a:lnSpc>
              <a:buFont typeface="+mj-lt"/>
              <a:buAutoNum type="arabicPeriod"/>
            </a:pPr>
            <a:r>
              <a:rPr lang="en-US" altLang="en-US" sz="2000" dirty="0"/>
              <a:t>Append the two year data into one using append queries.</a:t>
            </a:r>
          </a:p>
          <a:p>
            <a:pPr marL="457200" indent="-457200">
              <a:lnSpc>
                <a:spcPct val="150000"/>
              </a:lnSpc>
              <a:buFont typeface="+mj-lt"/>
              <a:buAutoNum type="arabicPeriod"/>
            </a:pPr>
            <a:r>
              <a:rPr lang="en-US" altLang="en-US" sz="2000" dirty="0"/>
              <a:t>Segregate the product column and creating a separate table.</a:t>
            </a:r>
          </a:p>
          <a:p>
            <a:pPr marL="457200" indent="-457200">
              <a:lnSpc>
                <a:spcPct val="150000"/>
              </a:lnSpc>
              <a:buFont typeface="+mj-lt"/>
              <a:buAutoNum type="arabicPeriod"/>
            </a:pPr>
            <a:r>
              <a:rPr lang="en-US" altLang="en-US" sz="2000" dirty="0"/>
              <a:t>Segregate the city column and creating a city table.</a:t>
            </a:r>
          </a:p>
          <a:p>
            <a:pPr marL="457200" indent="-457200">
              <a:lnSpc>
                <a:spcPct val="150000"/>
              </a:lnSpc>
              <a:buFont typeface="+mj-lt"/>
              <a:buAutoNum type="arabicPeriod"/>
            </a:pPr>
            <a:r>
              <a:rPr lang="en-US" altLang="en-US" sz="2000" dirty="0"/>
              <a:t>Removing the duplicate values.</a:t>
            </a:r>
          </a:p>
          <a:p>
            <a:pPr marL="0" indent="0">
              <a:lnSpc>
                <a:spcPct val="150000"/>
              </a:lnSpc>
              <a:buNone/>
            </a:pPr>
            <a:r>
              <a:rPr lang="en-IN" sz="2000" dirty="0"/>
              <a:t> </a:t>
            </a:r>
          </a:p>
        </p:txBody>
      </p:sp>
    </p:spTree>
    <p:extLst>
      <p:ext uri="{BB962C8B-B14F-4D97-AF65-F5344CB8AC3E}">
        <p14:creationId xmlns:p14="http://schemas.microsoft.com/office/powerpoint/2010/main" val="1652833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B5C07-6E4F-A33B-67FD-3781CB8C72D9}"/>
              </a:ext>
            </a:extLst>
          </p:cNvPr>
          <p:cNvSpPr>
            <a:spLocks noGrp="1"/>
          </p:cNvSpPr>
          <p:nvPr>
            <p:ph type="title"/>
          </p:nvPr>
        </p:nvSpPr>
        <p:spPr>
          <a:xfrm>
            <a:off x="685801" y="609601"/>
            <a:ext cx="10131425" cy="914399"/>
          </a:xfrm>
        </p:spPr>
        <p:txBody>
          <a:bodyPr/>
          <a:lstStyle/>
          <a:p>
            <a:r>
              <a:rPr lang="en-IN" b="1" dirty="0"/>
              <a:t>Problem statement</a:t>
            </a:r>
          </a:p>
        </p:txBody>
      </p:sp>
      <p:sp>
        <p:nvSpPr>
          <p:cNvPr id="4" name="Rectangle 1">
            <a:extLst>
              <a:ext uri="{FF2B5EF4-FFF2-40B4-BE49-F238E27FC236}">
                <a16:creationId xmlns:a16="http://schemas.microsoft.com/office/drawing/2014/main" id="{27D91723-7E5C-BBD5-08E2-9CDEA9A7D55C}"/>
              </a:ext>
            </a:extLst>
          </p:cNvPr>
          <p:cNvSpPr>
            <a:spLocks noGrp="1" noChangeArrowheads="1"/>
          </p:cNvSpPr>
          <p:nvPr>
            <p:ph idx="1"/>
          </p:nvPr>
        </p:nvSpPr>
        <p:spPr bwMode="auto">
          <a:xfrm>
            <a:off x="570271" y="1915897"/>
            <a:ext cx="10923640" cy="3728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lnSpc>
                <a:spcPct val="150000"/>
              </a:lnSpc>
              <a:spcBef>
                <a:spcPct val="0"/>
              </a:spcBef>
              <a:spcAft>
                <a:spcPct val="0"/>
              </a:spcAft>
              <a:buClrTx/>
              <a:buSzTx/>
              <a:buFont typeface="Wingdings" panose="05000000000000000000" pitchFamily="2" charset="2"/>
              <a:buChar char="v"/>
            </a:pPr>
            <a:r>
              <a:rPr lang="en-IN" sz="2000" dirty="0"/>
              <a:t>Amazon sales data is large and complex, making it difficult to analyse sales performance and identify meaningful patterns using traditional methods.</a:t>
            </a:r>
          </a:p>
          <a:p>
            <a:pPr algn="just" defTabSz="914400" eaLnBrk="0" fontAlgn="base" hangingPunct="0">
              <a:lnSpc>
                <a:spcPct val="150000"/>
              </a:lnSpc>
              <a:spcBef>
                <a:spcPct val="0"/>
              </a:spcBef>
              <a:spcAft>
                <a:spcPct val="0"/>
              </a:spcAft>
              <a:buClrTx/>
              <a:buSzTx/>
              <a:buFont typeface="Wingdings" panose="05000000000000000000" pitchFamily="2" charset="2"/>
              <a:buChar char="v"/>
            </a:pPr>
            <a:r>
              <a:rPr lang="en-IN" sz="2000" dirty="0"/>
              <a:t> Without proper visualization and analysis, it becomes challenging to track sales trends, evaluate product performance, and make informed business decisions. </a:t>
            </a:r>
          </a:p>
          <a:p>
            <a:pPr algn="just" defTabSz="914400" eaLnBrk="0" fontAlgn="base" hangingPunct="0">
              <a:lnSpc>
                <a:spcPct val="150000"/>
              </a:lnSpc>
              <a:spcBef>
                <a:spcPct val="0"/>
              </a:spcBef>
              <a:spcAft>
                <a:spcPct val="0"/>
              </a:spcAft>
              <a:buClrTx/>
              <a:buSzTx/>
              <a:buFont typeface="Wingdings" panose="05000000000000000000" pitchFamily="2" charset="2"/>
              <a:buChar char="v"/>
            </a:pPr>
            <a:r>
              <a:rPr lang="en-IN" sz="2000" dirty="0"/>
              <a:t>This project aims to address this problem by developing an Amazon Sales Analysis Dashboard using Power BI that converts raw sales data into interactive and insightful visualizations for effective analysis and decision-making.</a:t>
            </a:r>
          </a:p>
          <a:p>
            <a:pPr lvl="8" algn="just" defTabSz="914400" eaLnBrk="0" fontAlgn="base" hangingPunct="0">
              <a:lnSpc>
                <a:spcPct val="150000"/>
              </a:lnSpc>
              <a:spcBef>
                <a:spcPct val="0"/>
              </a:spcBef>
              <a:spcAft>
                <a:spcPct val="0"/>
              </a:spcAft>
              <a:buClrTx/>
              <a:buSzTx/>
              <a:buFont typeface="Wingdings" panose="05000000000000000000" pitchFamily="2" charset="2"/>
              <a:buChar char="v"/>
            </a:pPr>
            <a:endParaRPr kumimoji="0" lang="en-US" altLang="en-US" sz="20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29999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A8EB8-3DB9-CDB0-96B6-C48AD974ED32}"/>
              </a:ext>
            </a:extLst>
          </p:cNvPr>
          <p:cNvSpPr>
            <a:spLocks noGrp="1"/>
          </p:cNvSpPr>
          <p:nvPr>
            <p:ph type="title"/>
          </p:nvPr>
        </p:nvSpPr>
        <p:spPr>
          <a:xfrm>
            <a:off x="685801" y="322118"/>
            <a:ext cx="4987635" cy="802433"/>
          </a:xfrm>
        </p:spPr>
        <p:txBody>
          <a:bodyPr>
            <a:normAutofit/>
          </a:bodyPr>
          <a:lstStyle/>
          <a:p>
            <a:r>
              <a:rPr lang="en-IN" b="1" dirty="0"/>
              <a:t>Key metrics and </a:t>
            </a:r>
            <a:r>
              <a:rPr lang="en-IN" b="1" dirty="0" err="1"/>
              <a:t>kpi</a:t>
            </a:r>
            <a:r>
              <a:rPr lang="en-IN" b="1" dirty="0"/>
              <a:t>’ s</a:t>
            </a:r>
          </a:p>
        </p:txBody>
      </p:sp>
      <p:sp>
        <p:nvSpPr>
          <p:cNvPr id="10" name="Content Placeholder 9">
            <a:extLst>
              <a:ext uri="{FF2B5EF4-FFF2-40B4-BE49-F238E27FC236}">
                <a16:creationId xmlns:a16="http://schemas.microsoft.com/office/drawing/2014/main" id="{38C27251-E0F3-8134-754E-863D99F8D679}"/>
              </a:ext>
            </a:extLst>
          </p:cNvPr>
          <p:cNvSpPr>
            <a:spLocks noGrp="1"/>
          </p:cNvSpPr>
          <p:nvPr>
            <p:ph idx="1"/>
          </p:nvPr>
        </p:nvSpPr>
        <p:spPr>
          <a:xfrm>
            <a:off x="685801" y="1124551"/>
            <a:ext cx="10131425" cy="3447449"/>
          </a:xfrm>
        </p:spPr>
        <p:txBody>
          <a:bodyPr/>
          <a:lstStyle/>
          <a:p>
            <a:pPr algn="just"/>
            <a:r>
              <a:rPr lang="en-US" dirty="0"/>
              <a:t>- Total Sales: $216M</a:t>
            </a:r>
          </a:p>
          <a:p>
            <a:pPr algn="just"/>
            <a:r>
              <a:rPr lang="en-US" dirty="0"/>
              <a:t>- Total Orders: 2K</a:t>
            </a:r>
          </a:p>
          <a:p>
            <a:pPr algn="just"/>
            <a:r>
              <a:rPr lang="en-US" dirty="0"/>
              <a:t>- Total Quantity Sold: 7K</a:t>
            </a:r>
          </a:p>
          <a:p>
            <a:pPr algn="just"/>
            <a:endParaRPr lang="en-US" dirty="0"/>
          </a:p>
          <a:p>
            <a:pPr algn="just"/>
            <a:r>
              <a:rPr lang="en-US" dirty="0"/>
              <a:t>These KPIs give a quick snapshot of business performance</a:t>
            </a:r>
            <a:endParaRPr lang="en-IN" dirty="0"/>
          </a:p>
        </p:txBody>
      </p:sp>
    </p:spTree>
    <p:extLst>
      <p:ext uri="{BB962C8B-B14F-4D97-AF65-F5344CB8AC3E}">
        <p14:creationId xmlns:p14="http://schemas.microsoft.com/office/powerpoint/2010/main" val="3851420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4A3D9-007F-8837-A7AA-F8573AF47855}"/>
              </a:ext>
            </a:extLst>
          </p:cNvPr>
          <p:cNvSpPr>
            <a:spLocks noGrp="1"/>
          </p:cNvSpPr>
          <p:nvPr>
            <p:ph type="title"/>
          </p:nvPr>
        </p:nvSpPr>
        <p:spPr/>
        <p:txBody>
          <a:bodyPr/>
          <a:lstStyle/>
          <a:p>
            <a:r>
              <a:rPr lang="en-IN" b="1" dirty="0"/>
              <a:t>questions</a:t>
            </a:r>
          </a:p>
        </p:txBody>
      </p:sp>
      <p:sp>
        <p:nvSpPr>
          <p:cNvPr id="4" name="TextBox 3">
            <a:extLst>
              <a:ext uri="{FF2B5EF4-FFF2-40B4-BE49-F238E27FC236}">
                <a16:creationId xmlns:a16="http://schemas.microsoft.com/office/drawing/2014/main" id="{F55EB5E6-DC6C-F60D-8D04-D113699DB55E}"/>
              </a:ext>
            </a:extLst>
          </p:cNvPr>
          <p:cNvSpPr txBox="1"/>
          <p:nvPr/>
        </p:nvSpPr>
        <p:spPr>
          <a:xfrm>
            <a:off x="776748" y="1970449"/>
            <a:ext cx="8367252" cy="3343159"/>
          </a:xfrm>
          <a:prstGeom prst="rect">
            <a:avLst/>
          </a:prstGeom>
          <a:noFill/>
        </p:spPr>
        <p:txBody>
          <a:bodyPr wrap="square">
            <a:spAutoFit/>
          </a:bodyPr>
          <a:lstStyle/>
          <a:p>
            <a:pPr>
              <a:lnSpc>
                <a:spcPct val="115000"/>
              </a:lnSpc>
              <a:spcAft>
                <a:spcPts val="800"/>
              </a:spcAft>
              <a:buNone/>
              <a:tabLst>
                <a:tab pos="117348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1.Overall  Sales Trend Analysis.</a:t>
            </a:r>
          </a:p>
          <a:p>
            <a:pPr>
              <a:lnSpc>
                <a:spcPct val="115000"/>
              </a:lnSpc>
              <a:spcAft>
                <a:spcPts val="800"/>
              </a:spcAft>
              <a:buNone/>
              <a:tabLst>
                <a:tab pos="117348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2.Top Selling Category Based on Sales.</a:t>
            </a:r>
          </a:p>
          <a:p>
            <a:pPr>
              <a:lnSpc>
                <a:spcPct val="115000"/>
              </a:lnSpc>
              <a:spcAft>
                <a:spcPts val="800"/>
              </a:spcAft>
              <a:buNone/>
              <a:tabLst>
                <a:tab pos="117348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3.Identify Top 10 Products by Sales.</a:t>
            </a:r>
          </a:p>
          <a:p>
            <a:pPr>
              <a:lnSpc>
                <a:spcPct val="115000"/>
              </a:lnSpc>
              <a:spcAft>
                <a:spcPts val="800"/>
              </a:spcAft>
              <a:buNone/>
              <a:tabLst>
                <a:tab pos="117348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4. Analyse City-Wise Sales Trend.</a:t>
            </a:r>
          </a:p>
          <a:p>
            <a:pPr>
              <a:lnSpc>
                <a:spcPct val="115000"/>
              </a:lnSpc>
              <a:spcAft>
                <a:spcPts val="800"/>
              </a:spcAft>
              <a:buNone/>
              <a:tabLst>
                <a:tab pos="117348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5.Identify orders by each city.</a:t>
            </a:r>
          </a:p>
          <a:p>
            <a:pPr>
              <a:lnSpc>
                <a:spcPct val="115000"/>
              </a:lnSpc>
              <a:spcAft>
                <a:spcPts val="800"/>
              </a:spcAft>
              <a:buNone/>
              <a:tabLst>
                <a:tab pos="117348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6.Month To Month Analysis and Its Difference.</a:t>
            </a:r>
          </a:p>
          <a:p>
            <a:pPr>
              <a:lnSpc>
                <a:spcPct val="115000"/>
              </a:lnSpc>
              <a:spcAft>
                <a:spcPts val="800"/>
              </a:spcAft>
              <a:buNone/>
              <a:tabLst>
                <a:tab pos="117348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7.Identify orders based on payment method.</a:t>
            </a:r>
          </a:p>
          <a:p>
            <a:pPr>
              <a:lnSpc>
                <a:spcPct val="115000"/>
              </a:lnSpc>
              <a:spcAft>
                <a:spcPts val="800"/>
              </a:spcAft>
              <a:buNone/>
              <a:tabLst>
                <a:tab pos="1173480" algn="l"/>
              </a:tabLst>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606587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BF137-1A53-181B-B772-D9792B255408}"/>
              </a:ext>
            </a:extLst>
          </p:cNvPr>
          <p:cNvSpPr>
            <a:spLocks noGrp="1"/>
          </p:cNvSpPr>
          <p:nvPr>
            <p:ph type="title"/>
          </p:nvPr>
        </p:nvSpPr>
        <p:spPr>
          <a:xfrm>
            <a:off x="685801" y="301337"/>
            <a:ext cx="10131425" cy="976746"/>
          </a:xfrm>
        </p:spPr>
        <p:txBody>
          <a:bodyPr/>
          <a:lstStyle/>
          <a:p>
            <a:r>
              <a:rPr lang="en-IN" b="1" dirty="0"/>
              <a:t>Power bi dashboard overview</a:t>
            </a:r>
          </a:p>
        </p:txBody>
      </p:sp>
      <p:pic>
        <p:nvPicPr>
          <p:cNvPr id="7" name="Content Placeholder 6">
            <a:extLst>
              <a:ext uri="{FF2B5EF4-FFF2-40B4-BE49-F238E27FC236}">
                <a16:creationId xmlns:a16="http://schemas.microsoft.com/office/drawing/2014/main" id="{279429BA-4D5B-F578-8FF9-461722D442D3}"/>
              </a:ext>
            </a:extLst>
          </p:cNvPr>
          <p:cNvPicPr>
            <a:picLocks noGrp="1" noChangeAspect="1"/>
          </p:cNvPicPr>
          <p:nvPr>
            <p:ph idx="1"/>
          </p:nvPr>
        </p:nvPicPr>
        <p:blipFill>
          <a:blip r:embed="rId2"/>
          <a:stretch>
            <a:fillRect/>
          </a:stretch>
        </p:blipFill>
        <p:spPr>
          <a:xfrm>
            <a:off x="1406013" y="1396181"/>
            <a:ext cx="8790039" cy="4827638"/>
          </a:xfrm>
        </p:spPr>
      </p:pic>
    </p:spTree>
    <p:extLst>
      <p:ext uri="{BB962C8B-B14F-4D97-AF65-F5344CB8AC3E}">
        <p14:creationId xmlns:p14="http://schemas.microsoft.com/office/powerpoint/2010/main" val="3705862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A75DC-7361-2BFF-A480-365DF4215CE4}"/>
              </a:ext>
            </a:extLst>
          </p:cNvPr>
          <p:cNvSpPr>
            <a:spLocks noGrp="1"/>
          </p:cNvSpPr>
          <p:nvPr>
            <p:ph type="title"/>
          </p:nvPr>
        </p:nvSpPr>
        <p:spPr>
          <a:xfrm>
            <a:off x="685800" y="2213264"/>
            <a:ext cx="4956705" cy="737754"/>
          </a:xfrm>
        </p:spPr>
        <p:txBody>
          <a:bodyPr>
            <a:normAutofit/>
          </a:bodyPr>
          <a:lstStyle/>
          <a:p>
            <a:r>
              <a:rPr lang="en-IN" b="1" dirty="0">
                <a:solidFill>
                  <a:srgbClr val="FF0000"/>
                </a:solidFill>
              </a:rPr>
              <a:t>overall sales trend analysis</a:t>
            </a:r>
          </a:p>
        </p:txBody>
      </p:sp>
      <p:sp>
        <p:nvSpPr>
          <p:cNvPr id="7" name="Rectangle 2">
            <a:extLst>
              <a:ext uri="{FF2B5EF4-FFF2-40B4-BE49-F238E27FC236}">
                <a16:creationId xmlns:a16="http://schemas.microsoft.com/office/drawing/2014/main" id="{F3E64DF7-E631-E492-CA4B-C8BD40B48BF6}"/>
              </a:ext>
            </a:extLst>
          </p:cNvPr>
          <p:cNvSpPr>
            <a:spLocks noGrp="1" noChangeArrowheads="1"/>
          </p:cNvSpPr>
          <p:nvPr>
            <p:ph type="body" sz="half" idx="2"/>
          </p:nvPr>
        </p:nvSpPr>
        <p:spPr bwMode="auto">
          <a:xfrm>
            <a:off x="685800" y="2940557"/>
            <a:ext cx="5257850" cy="1891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Line Chart</a:t>
            </a:r>
            <a:r>
              <a:rPr kumimoji="0" lang="en-US" altLang="en-US" sz="2000" b="0" i="0" u="none" strike="noStrike" cap="none" normalizeH="0" baseline="0" dirty="0">
                <a:ln>
                  <a:noFill/>
                </a:ln>
                <a:solidFill>
                  <a:schemeClr val="tx1"/>
                </a:solidFill>
                <a:effectLst/>
              </a:rPr>
              <a:t> → Best for showing trends over time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X-axis:</a:t>
            </a:r>
            <a:r>
              <a:rPr kumimoji="0" lang="en-US" altLang="en-US" sz="2000" b="0" i="0" u="none" strike="noStrike" cap="none" normalizeH="0" baseline="0" dirty="0">
                <a:ln>
                  <a:noFill/>
                </a:ln>
                <a:solidFill>
                  <a:schemeClr val="tx1"/>
                </a:solidFill>
                <a:effectLst/>
              </a:rPr>
              <a:t> Months (Jan → Dec)</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Y-axis:</a:t>
            </a:r>
            <a:r>
              <a:rPr kumimoji="0" lang="en-US" altLang="en-US" sz="2000" b="0" i="0" u="none" strike="noStrike" cap="none" normalizeH="0" baseline="0" dirty="0">
                <a:ln>
                  <a:noFill/>
                </a:ln>
                <a:solidFill>
                  <a:schemeClr val="tx1"/>
                </a:solidFill>
                <a:effectLst/>
              </a:rPr>
              <a:t> Revenue ($)</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b="1" dirty="0"/>
              <a:t>Legend</a:t>
            </a:r>
            <a:r>
              <a:rPr lang="en-US" altLang="en-US" sz="2000" dirty="0"/>
              <a:t>: year</a:t>
            </a:r>
            <a:endParaRPr kumimoji="0" lang="en-US" altLang="en-US" sz="2000" b="0" i="0" u="none" strike="noStrike" cap="none" normalizeH="0" baseline="0" dirty="0">
              <a:ln>
                <a:noFill/>
              </a:ln>
              <a:solidFill>
                <a:schemeClr val="tx1"/>
              </a:solidFill>
              <a:effectLst/>
            </a:endParaRPr>
          </a:p>
        </p:txBody>
      </p:sp>
      <p:pic>
        <p:nvPicPr>
          <p:cNvPr id="20" name="Picture Placeholder 19">
            <a:extLst>
              <a:ext uri="{FF2B5EF4-FFF2-40B4-BE49-F238E27FC236}">
                <a16:creationId xmlns:a16="http://schemas.microsoft.com/office/drawing/2014/main" id="{FC364324-F82E-3B0A-AA4C-AD3B84B396ED}"/>
              </a:ext>
            </a:extLst>
          </p:cNvPr>
          <p:cNvPicPr>
            <a:picLocks noGrp="1" noChangeAspect="1"/>
          </p:cNvPicPr>
          <p:nvPr>
            <p:ph type="pic" idx="1"/>
          </p:nvPr>
        </p:nvPicPr>
        <p:blipFill>
          <a:blip r:embed="rId2"/>
          <a:srcRect l="13967" t="21075" r="26811" b="20860"/>
          <a:stretch>
            <a:fillRect/>
          </a:stretch>
        </p:blipFill>
        <p:spPr>
          <a:xfrm>
            <a:off x="6336842" y="2283541"/>
            <a:ext cx="4812938" cy="3205317"/>
          </a:xfrm>
        </p:spPr>
      </p:pic>
    </p:spTree>
    <p:extLst>
      <p:ext uri="{BB962C8B-B14F-4D97-AF65-F5344CB8AC3E}">
        <p14:creationId xmlns:p14="http://schemas.microsoft.com/office/powerpoint/2010/main" val="2594139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DA81B-D097-0D4B-EB48-5EB445F6F67E}"/>
              </a:ext>
            </a:extLst>
          </p:cNvPr>
          <p:cNvSpPr>
            <a:spLocks noGrp="1"/>
          </p:cNvSpPr>
          <p:nvPr>
            <p:ph type="title"/>
          </p:nvPr>
        </p:nvSpPr>
        <p:spPr>
          <a:xfrm>
            <a:off x="685800" y="1600201"/>
            <a:ext cx="6164653" cy="644236"/>
          </a:xfrm>
        </p:spPr>
        <p:txBody>
          <a:bodyPr/>
          <a:lstStyle/>
          <a:p>
            <a:r>
              <a:rPr lang="en-IN" b="1" dirty="0">
                <a:solidFill>
                  <a:srgbClr val="FF0000"/>
                </a:solidFill>
              </a:rPr>
              <a:t>Top selling category based on sales</a:t>
            </a:r>
          </a:p>
        </p:txBody>
      </p:sp>
      <p:sp>
        <p:nvSpPr>
          <p:cNvPr id="4" name="Text Placeholder 3">
            <a:extLst>
              <a:ext uri="{FF2B5EF4-FFF2-40B4-BE49-F238E27FC236}">
                <a16:creationId xmlns:a16="http://schemas.microsoft.com/office/drawing/2014/main" id="{5433B7AD-4FC0-A502-3BB9-4B63380AB215}"/>
              </a:ext>
            </a:extLst>
          </p:cNvPr>
          <p:cNvSpPr>
            <a:spLocks noGrp="1"/>
          </p:cNvSpPr>
          <p:nvPr>
            <p:ph type="body" sz="half" idx="2"/>
          </p:nvPr>
        </p:nvSpPr>
        <p:spPr>
          <a:xfrm>
            <a:off x="685800" y="2400301"/>
            <a:ext cx="6164653" cy="2857498"/>
          </a:xfrm>
        </p:spPr>
        <p:txBody>
          <a:bodyPr>
            <a:noAutofit/>
          </a:bodyPr>
          <a:lstStyle/>
          <a:p>
            <a:pPr marL="342900" indent="-342900">
              <a:lnSpc>
                <a:spcPct val="150000"/>
              </a:lnSpc>
              <a:buFont typeface="Arial" panose="020B0604020202020204" pitchFamily="34" charset="0"/>
              <a:buChar char="•"/>
            </a:pPr>
            <a:r>
              <a:rPr lang="en-IN" sz="2000" b="1" dirty="0"/>
              <a:t>Donut</a:t>
            </a:r>
            <a:r>
              <a:rPr lang="en-IN" sz="2000" b="1" dirty="0">
                <a:solidFill>
                  <a:srgbClr val="FF0000"/>
                </a:solidFill>
              </a:rPr>
              <a:t> </a:t>
            </a:r>
            <a:r>
              <a:rPr lang="en-IN" sz="2000" b="1" dirty="0"/>
              <a:t>chart</a:t>
            </a:r>
            <a:r>
              <a:rPr lang="en-IN" sz="2000" dirty="0"/>
              <a:t>→ Shows Percentage contribution of each category to total revenue</a:t>
            </a:r>
          </a:p>
          <a:p>
            <a:pPr marL="342900" indent="-342900">
              <a:lnSpc>
                <a:spcPct val="150000"/>
              </a:lnSpc>
              <a:buFont typeface="Arial" panose="020B0604020202020204" pitchFamily="34" charset="0"/>
              <a:buChar char="•"/>
            </a:pPr>
            <a:r>
              <a:rPr lang="en-IN" sz="2000" dirty="0"/>
              <a:t>Legend: category</a:t>
            </a:r>
          </a:p>
          <a:p>
            <a:pPr marL="342900" indent="-342900">
              <a:lnSpc>
                <a:spcPct val="150000"/>
              </a:lnSpc>
              <a:buFont typeface="Arial" panose="020B0604020202020204" pitchFamily="34" charset="0"/>
              <a:buChar char="•"/>
            </a:pPr>
            <a:r>
              <a:rPr lang="en-IN" sz="2000" dirty="0"/>
              <a:t>Values: percentage of total revenue</a:t>
            </a:r>
          </a:p>
          <a:p>
            <a:endParaRPr lang="en-IN" sz="2000" dirty="0"/>
          </a:p>
          <a:p>
            <a:r>
              <a:rPr lang="en-IN" sz="2000" dirty="0"/>
              <a:t> </a:t>
            </a:r>
          </a:p>
        </p:txBody>
      </p:sp>
      <p:pic>
        <p:nvPicPr>
          <p:cNvPr id="7" name="Picture Placeholder 6">
            <a:extLst>
              <a:ext uri="{FF2B5EF4-FFF2-40B4-BE49-F238E27FC236}">
                <a16:creationId xmlns:a16="http://schemas.microsoft.com/office/drawing/2014/main" id="{69F2BC00-5D8E-1E47-8D55-A06430FDCBF4}"/>
              </a:ext>
            </a:extLst>
          </p:cNvPr>
          <p:cNvPicPr>
            <a:picLocks noGrp="1" noChangeAspect="1"/>
          </p:cNvPicPr>
          <p:nvPr>
            <p:ph type="pic" idx="1"/>
          </p:nvPr>
        </p:nvPicPr>
        <p:blipFill>
          <a:blip r:embed="rId2"/>
          <a:srcRect l="13870" t="27097" r="27745" b="21075"/>
          <a:stretch>
            <a:fillRect/>
          </a:stretch>
        </p:blipFill>
        <p:spPr>
          <a:xfrm>
            <a:off x="7157884" y="1818969"/>
            <a:ext cx="4493342" cy="3038166"/>
          </a:xfrm>
        </p:spPr>
      </p:pic>
    </p:spTree>
    <p:extLst>
      <p:ext uri="{BB962C8B-B14F-4D97-AF65-F5344CB8AC3E}">
        <p14:creationId xmlns:p14="http://schemas.microsoft.com/office/powerpoint/2010/main" val="577360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C3F8F-A4D3-C9E4-8C8F-5F74BCDCF913}"/>
              </a:ext>
            </a:extLst>
          </p:cNvPr>
          <p:cNvSpPr>
            <a:spLocks noGrp="1"/>
          </p:cNvSpPr>
          <p:nvPr>
            <p:ph type="title"/>
          </p:nvPr>
        </p:nvSpPr>
        <p:spPr>
          <a:xfrm>
            <a:off x="685800" y="1600200"/>
            <a:ext cx="6164653" cy="696191"/>
          </a:xfrm>
        </p:spPr>
        <p:txBody>
          <a:bodyPr/>
          <a:lstStyle/>
          <a:p>
            <a:r>
              <a:rPr lang="en-IN" b="1" dirty="0">
                <a:solidFill>
                  <a:srgbClr val="FF0000"/>
                </a:solidFill>
              </a:rPr>
              <a:t>Identify Top 10 products by sales</a:t>
            </a:r>
          </a:p>
        </p:txBody>
      </p:sp>
      <p:sp>
        <p:nvSpPr>
          <p:cNvPr id="4" name="Text Placeholder 3">
            <a:extLst>
              <a:ext uri="{FF2B5EF4-FFF2-40B4-BE49-F238E27FC236}">
                <a16:creationId xmlns:a16="http://schemas.microsoft.com/office/drawing/2014/main" id="{77F9EB65-A7F9-9980-3B16-7A7FB6D234D0}"/>
              </a:ext>
            </a:extLst>
          </p:cNvPr>
          <p:cNvSpPr>
            <a:spLocks noGrp="1"/>
          </p:cNvSpPr>
          <p:nvPr>
            <p:ph type="body" sz="half" idx="2"/>
          </p:nvPr>
        </p:nvSpPr>
        <p:spPr>
          <a:xfrm>
            <a:off x="685800" y="2576945"/>
            <a:ext cx="6164653" cy="3065319"/>
          </a:xfrm>
        </p:spPr>
        <p:txBody>
          <a:bodyPr/>
          <a:lstStyle/>
          <a:p>
            <a:pPr>
              <a:lnSpc>
                <a:spcPct val="150000"/>
              </a:lnSpc>
            </a:pPr>
            <a:r>
              <a:rPr lang="en-IN" sz="2000" dirty="0"/>
              <a:t>Stacked bar chart→ horizontal bars are easier to read, it gives quick comparison across products.</a:t>
            </a:r>
          </a:p>
          <a:p>
            <a:pPr>
              <a:lnSpc>
                <a:spcPct val="150000"/>
              </a:lnSpc>
            </a:pPr>
            <a:r>
              <a:rPr lang="en-IN" sz="2000" dirty="0"/>
              <a:t>Y axis: product name</a:t>
            </a:r>
          </a:p>
          <a:p>
            <a:pPr>
              <a:lnSpc>
                <a:spcPct val="150000"/>
              </a:lnSpc>
            </a:pPr>
            <a:r>
              <a:rPr lang="en-IN" sz="2000" dirty="0"/>
              <a:t>X axis: Sum of total sales </a:t>
            </a:r>
          </a:p>
          <a:p>
            <a:endParaRPr lang="en-IN" dirty="0"/>
          </a:p>
          <a:p>
            <a:endParaRPr lang="en-IN" dirty="0"/>
          </a:p>
        </p:txBody>
      </p:sp>
      <p:pic>
        <p:nvPicPr>
          <p:cNvPr id="8" name="Picture Placeholder 7">
            <a:extLst>
              <a:ext uri="{FF2B5EF4-FFF2-40B4-BE49-F238E27FC236}">
                <a16:creationId xmlns:a16="http://schemas.microsoft.com/office/drawing/2014/main" id="{B0AD13F3-1305-5B3C-CA1C-7BBB7A481AA6}"/>
              </a:ext>
            </a:extLst>
          </p:cNvPr>
          <p:cNvPicPr>
            <a:picLocks noGrp="1" noChangeAspect="1"/>
          </p:cNvPicPr>
          <p:nvPr>
            <p:ph type="pic" idx="1"/>
          </p:nvPr>
        </p:nvPicPr>
        <p:blipFill>
          <a:blip r:embed="rId2"/>
          <a:srcRect l="13785" t="21108" r="27295" b="21043"/>
          <a:stretch>
            <a:fillRect/>
          </a:stretch>
        </p:blipFill>
        <p:spPr>
          <a:xfrm>
            <a:off x="6717890" y="1916731"/>
            <a:ext cx="4788310" cy="3245204"/>
          </a:xfrm>
        </p:spPr>
      </p:pic>
    </p:spTree>
    <p:extLst>
      <p:ext uri="{BB962C8B-B14F-4D97-AF65-F5344CB8AC3E}">
        <p14:creationId xmlns:p14="http://schemas.microsoft.com/office/powerpoint/2010/main" val="1331994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BF1CE-CB22-B7C7-D07A-55F719A5FC41}"/>
              </a:ext>
            </a:extLst>
          </p:cNvPr>
          <p:cNvSpPr>
            <a:spLocks noGrp="1"/>
          </p:cNvSpPr>
          <p:nvPr>
            <p:ph type="title"/>
          </p:nvPr>
        </p:nvSpPr>
        <p:spPr>
          <a:xfrm>
            <a:off x="685800" y="1600200"/>
            <a:ext cx="6164653" cy="685800"/>
          </a:xfrm>
        </p:spPr>
        <p:txBody>
          <a:bodyPr/>
          <a:lstStyle/>
          <a:p>
            <a:r>
              <a:rPr lang="en-IN" b="1" dirty="0">
                <a:solidFill>
                  <a:srgbClr val="FF0000"/>
                </a:solidFill>
              </a:rPr>
              <a:t>Identify  orders by each city</a:t>
            </a:r>
          </a:p>
        </p:txBody>
      </p:sp>
      <p:sp>
        <p:nvSpPr>
          <p:cNvPr id="4" name="Text Placeholder 3">
            <a:extLst>
              <a:ext uri="{FF2B5EF4-FFF2-40B4-BE49-F238E27FC236}">
                <a16:creationId xmlns:a16="http://schemas.microsoft.com/office/drawing/2014/main" id="{1AFAEE52-46AF-6509-22DC-A076FEE6F4B5}"/>
              </a:ext>
            </a:extLst>
          </p:cNvPr>
          <p:cNvSpPr>
            <a:spLocks noGrp="1"/>
          </p:cNvSpPr>
          <p:nvPr>
            <p:ph type="body" sz="half" idx="2"/>
          </p:nvPr>
        </p:nvSpPr>
        <p:spPr>
          <a:xfrm>
            <a:off x="685800" y="2410691"/>
            <a:ext cx="6164653" cy="3390341"/>
          </a:xfrm>
        </p:spPr>
        <p:txBody>
          <a:bodyPr>
            <a:normAutofit/>
          </a:bodyPr>
          <a:lstStyle/>
          <a:p>
            <a:r>
              <a:rPr lang="en-US" sz="2000" b="1" dirty="0"/>
              <a:t>Chart Used: Waterfall chart</a:t>
            </a:r>
            <a:endParaRPr lang="en-US" sz="2000" dirty="0"/>
          </a:p>
          <a:p>
            <a:r>
              <a:rPr lang="en-US" sz="2000" b="1" dirty="0"/>
              <a:t>X-Axis: </a:t>
            </a:r>
            <a:r>
              <a:rPr lang="en-US" sz="2000" dirty="0"/>
              <a:t>City Name</a:t>
            </a:r>
          </a:p>
          <a:p>
            <a:r>
              <a:rPr lang="en-US" sz="2000" b="1" dirty="0"/>
              <a:t>Y-Axis: </a:t>
            </a:r>
            <a:r>
              <a:rPr lang="en-US" sz="2000" dirty="0"/>
              <a:t>Number of Orders</a:t>
            </a:r>
          </a:p>
          <a:p>
            <a:r>
              <a:rPr lang="en-US" sz="2000" b="1" dirty="0"/>
              <a:t>Purpose: </a:t>
            </a:r>
            <a:r>
              <a:rPr lang="en-US" sz="2000" dirty="0"/>
              <a:t>Shows customer demand and order volume across cities.</a:t>
            </a:r>
          </a:p>
          <a:p>
            <a:pPr>
              <a:lnSpc>
                <a:spcPct val="150000"/>
              </a:lnSpc>
            </a:pPr>
            <a:endParaRPr lang="en-IN" sz="2000" dirty="0"/>
          </a:p>
        </p:txBody>
      </p:sp>
      <p:pic>
        <p:nvPicPr>
          <p:cNvPr id="7" name="Picture Placeholder 6">
            <a:extLst>
              <a:ext uri="{FF2B5EF4-FFF2-40B4-BE49-F238E27FC236}">
                <a16:creationId xmlns:a16="http://schemas.microsoft.com/office/drawing/2014/main" id="{7BE0A52E-230B-D724-CD50-428032C983F6}"/>
              </a:ext>
            </a:extLst>
          </p:cNvPr>
          <p:cNvPicPr>
            <a:picLocks noGrp="1" noChangeAspect="1"/>
          </p:cNvPicPr>
          <p:nvPr>
            <p:ph type="pic" idx="1"/>
          </p:nvPr>
        </p:nvPicPr>
        <p:blipFill>
          <a:blip r:embed="rId2"/>
          <a:srcRect l="13664" t="21935" r="26932" b="21506"/>
          <a:stretch>
            <a:fillRect/>
          </a:stretch>
        </p:blipFill>
        <p:spPr>
          <a:xfrm>
            <a:off x="6678561" y="1779639"/>
            <a:ext cx="4827639" cy="3048000"/>
          </a:xfrm>
        </p:spPr>
      </p:pic>
    </p:spTree>
    <p:extLst>
      <p:ext uri="{BB962C8B-B14F-4D97-AF65-F5344CB8AC3E}">
        <p14:creationId xmlns:p14="http://schemas.microsoft.com/office/powerpoint/2010/main" val="3361411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D1851-3C6A-27AE-4BC6-3EDF5EBC1C9C}"/>
              </a:ext>
            </a:extLst>
          </p:cNvPr>
          <p:cNvSpPr>
            <a:spLocks noGrp="1"/>
          </p:cNvSpPr>
          <p:nvPr>
            <p:ph type="title"/>
          </p:nvPr>
        </p:nvSpPr>
        <p:spPr>
          <a:xfrm>
            <a:off x="571500" y="1257301"/>
            <a:ext cx="6858000" cy="758536"/>
          </a:xfrm>
        </p:spPr>
        <p:txBody>
          <a:bodyPr>
            <a:normAutofit/>
          </a:bodyPr>
          <a:lstStyle/>
          <a:p>
            <a:r>
              <a:rPr lang="en-IN" b="1" dirty="0">
                <a:solidFill>
                  <a:srgbClr val="FF0000"/>
                </a:solidFill>
              </a:rPr>
              <a:t>Analyse city-wise sales trend</a:t>
            </a:r>
          </a:p>
        </p:txBody>
      </p:sp>
      <p:sp>
        <p:nvSpPr>
          <p:cNvPr id="4" name="Text Placeholder 3">
            <a:extLst>
              <a:ext uri="{FF2B5EF4-FFF2-40B4-BE49-F238E27FC236}">
                <a16:creationId xmlns:a16="http://schemas.microsoft.com/office/drawing/2014/main" id="{2D3BC9A9-B4E6-DAA0-6793-E141D57669D9}"/>
              </a:ext>
            </a:extLst>
          </p:cNvPr>
          <p:cNvSpPr>
            <a:spLocks noGrp="1"/>
          </p:cNvSpPr>
          <p:nvPr>
            <p:ph type="body" sz="half" idx="2"/>
          </p:nvPr>
        </p:nvSpPr>
        <p:spPr>
          <a:xfrm>
            <a:off x="685800" y="2244436"/>
            <a:ext cx="6164653" cy="3241964"/>
          </a:xfrm>
        </p:spPr>
        <p:txBody>
          <a:bodyPr>
            <a:normAutofit/>
          </a:bodyPr>
          <a:lstStyle/>
          <a:p>
            <a:r>
              <a:rPr lang="en-US" b="1" dirty="0"/>
              <a:t>Chart Used:</a:t>
            </a:r>
            <a:r>
              <a:rPr lang="en-US" dirty="0"/>
              <a:t> </a:t>
            </a:r>
            <a:r>
              <a:rPr lang="en-US" b="1" dirty="0"/>
              <a:t>Vertical Bar Chart</a:t>
            </a:r>
            <a:endParaRPr lang="en-US" dirty="0"/>
          </a:p>
          <a:p>
            <a:r>
              <a:rPr lang="en-US" b="1" dirty="0"/>
              <a:t>X-Axis: </a:t>
            </a:r>
            <a:r>
              <a:rPr lang="en-US" dirty="0"/>
              <a:t>City Name</a:t>
            </a:r>
          </a:p>
          <a:p>
            <a:r>
              <a:rPr lang="en-US" b="1" dirty="0"/>
              <a:t>Y-Axis: </a:t>
            </a:r>
            <a:r>
              <a:rPr lang="en-US" dirty="0"/>
              <a:t>Total Sales Amount</a:t>
            </a:r>
          </a:p>
          <a:p>
            <a:r>
              <a:rPr lang="en-US" b="1" dirty="0"/>
              <a:t>Purpose: </a:t>
            </a:r>
            <a:r>
              <a:rPr lang="en-US" dirty="0"/>
              <a:t>Identifies cities generating the highest sales.</a:t>
            </a:r>
          </a:p>
          <a:p>
            <a:endParaRPr lang="en-IN" dirty="0"/>
          </a:p>
        </p:txBody>
      </p:sp>
      <p:pic>
        <p:nvPicPr>
          <p:cNvPr id="8" name="Picture Placeholder 7">
            <a:extLst>
              <a:ext uri="{FF2B5EF4-FFF2-40B4-BE49-F238E27FC236}">
                <a16:creationId xmlns:a16="http://schemas.microsoft.com/office/drawing/2014/main" id="{B95E8ACE-899F-4408-0EAA-75B652CDDF5C}"/>
              </a:ext>
            </a:extLst>
          </p:cNvPr>
          <p:cNvPicPr>
            <a:picLocks noGrp="1" noChangeAspect="1"/>
          </p:cNvPicPr>
          <p:nvPr>
            <p:ph type="pic" idx="1"/>
          </p:nvPr>
        </p:nvPicPr>
        <p:blipFill>
          <a:blip r:embed="rId2"/>
          <a:srcRect l="13544" t="21936" r="26810" b="21075"/>
          <a:stretch>
            <a:fillRect/>
          </a:stretch>
        </p:blipFill>
        <p:spPr>
          <a:xfrm>
            <a:off x="6213986" y="1917290"/>
            <a:ext cx="4847303" cy="2605549"/>
          </a:xfrm>
        </p:spPr>
      </p:pic>
    </p:spTree>
    <p:extLst>
      <p:ext uri="{BB962C8B-B14F-4D97-AF65-F5344CB8AC3E}">
        <p14:creationId xmlns:p14="http://schemas.microsoft.com/office/powerpoint/2010/main" val="2173368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085D3-E1A1-677D-E5CF-E02CE781E432}"/>
              </a:ext>
            </a:extLst>
          </p:cNvPr>
          <p:cNvSpPr>
            <a:spLocks noGrp="1"/>
          </p:cNvSpPr>
          <p:nvPr>
            <p:ph type="title"/>
          </p:nvPr>
        </p:nvSpPr>
        <p:spPr>
          <a:xfrm>
            <a:off x="685800" y="1059873"/>
            <a:ext cx="6164653" cy="727364"/>
          </a:xfrm>
        </p:spPr>
        <p:txBody>
          <a:bodyPr>
            <a:normAutofit fontScale="90000"/>
          </a:bodyPr>
          <a:lstStyle/>
          <a:p>
            <a:r>
              <a:rPr lang="en-IN" b="1" dirty="0">
                <a:solidFill>
                  <a:srgbClr val="FF0000"/>
                </a:solidFill>
              </a:rPr>
              <a:t>Month over month analysis and its difference</a:t>
            </a:r>
          </a:p>
        </p:txBody>
      </p:sp>
      <p:sp>
        <p:nvSpPr>
          <p:cNvPr id="4" name="Text Placeholder 3">
            <a:extLst>
              <a:ext uri="{FF2B5EF4-FFF2-40B4-BE49-F238E27FC236}">
                <a16:creationId xmlns:a16="http://schemas.microsoft.com/office/drawing/2014/main" id="{1D52C27C-C3BD-9F82-138E-2C1FBFFC7322}"/>
              </a:ext>
            </a:extLst>
          </p:cNvPr>
          <p:cNvSpPr>
            <a:spLocks noGrp="1"/>
          </p:cNvSpPr>
          <p:nvPr>
            <p:ph type="body" sz="half" idx="2"/>
          </p:nvPr>
        </p:nvSpPr>
        <p:spPr>
          <a:xfrm>
            <a:off x="685800" y="2140527"/>
            <a:ext cx="6164653" cy="3657600"/>
          </a:xfrm>
        </p:spPr>
        <p:txBody>
          <a:bodyPr>
            <a:normAutofit lnSpcReduction="10000"/>
          </a:bodyPr>
          <a:lstStyle/>
          <a:p>
            <a:pPr>
              <a:lnSpc>
                <a:spcPct val="150000"/>
              </a:lnSpc>
            </a:pPr>
            <a:r>
              <a:rPr lang="en-IN" sz="2000" dirty="0"/>
              <a:t>Line And Clustered Column Chart → </a:t>
            </a:r>
            <a:r>
              <a:rPr lang="en-US" sz="2000" dirty="0"/>
              <a:t>To evaluate monthly sales performance, measure changes from the previous month, and identify positive or negative variance in revenue and quantity.</a:t>
            </a:r>
          </a:p>
          <a:p>
            <a:pPr>
              <a:lnSpc>
                <a:spcPct val="150000"/>
              </a:lnSpc>
            </a:pPr>
            <a:r>
              <a:rPr lang="en-US" sz="2000" dirty="0"/>
              <a:t>X axis: order date(month)</a:t>
            </a:r>
          </a:p>
          <a:p>
            <a:pPr>
              <a:lnSpc>
                <a:spcPct val="150000"/>
              </a:lnSpc>
            </a:pPr>
            <a:r>
              <a:rPr lang="en-US" sz="2000" dirty="0"/>
              <a:t>Column Y axis: total revenue, sales last month</a:t>
            </a:r>
          </a:p>
          <a:p>
            <a:pPr>
              <a:lnSpc>
                <a:spcPct val="150000"/>
              </a:lnSpc>
            </a:pPr>
            <a:r>
              <a:rPr lang="en-US" sz="2000" dirty="0"/>
              <a:t>Line y axis: sales </a:t>
            </a:r>
            <a:r>
              <a:rPr lang="en-US" sz="2000" dirty="0" err="1"/>
              <a:t>varience</a:t>
            </a:r>
            <a:r>
              <a:rPr lang="en-US" sz="2000" dirty="0"/>
              <a:t>%</a:t>
            </a:r>
          </a:p>
          <a:p>
            <a:endParaRPr lang="en-IN" dirty="0"/>
          </a:p>
        </p:txBody>
      </p:sp>
      <p:pic>
        <p:nvPicPr>
          <p:cNvPr id="8" name="Picture Placeholder 7">
            <a:extLst>
              <a:ext uri="{FF2B5EF4-FFF2-40B4-BE49-F238E27FC236}">
                <a16:creationId xmlns:a16="http://schemas.microsoft.com/office/drawing/2014/main" id="{D5376491-B0DF-26FA-4CA0-752EE7C579F1}"/>
              </a:ext>
            </a:extLst>
          </p:cNvPr>
          <p:cNvPicPr>
            <a:picLocks noGrp="1" noChangeAspect="1"/>
          </p:cNvPicPr>
          <p:nvPr>
            <p:ph type="pic" idx="1"/>
          </p:nvPr>
        </p:nvPicPr>
        <p:blipFill>
          <a:blip r:embed="rId2"/>
          <a:srcRect l="13665" t="22580" r="27294" b="21076"/>
          <a:stretch>
            <a:fillRect/>
          </a:stretch>
        </p:blipFill>
        <p:spPr>
          <a:xfrm>
            <a:off x="6850453" y="1671484"/>
            <a:ext cx="4798142" cy="3146323"/>
          </a:xfrm>
        </p:spPr>
      </p:pic>
    </p:spTree>
    <p:extLst>
      <p:ext uri="{BB962C8B-B14F-4D97-AF65-F5344CB8AC3E}">
        <p14:creationId xmlns:p14="http://schemas.microsoft.com/office/powerpoint/2010/main" val="4055844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D9628-DB73-5F86-2EEF-7DD7019B5AA1}"/>
              </a:ext>
            </a:extLst>
          </p:cNvPr>
          <p:cNvSpPr>
            <a:spLocks noGrp="1"/>
          </p:cNvSpPr>
          <p:nvPr>
            <p:ph type="title"/>
          </p:nvPr>
        </p:nvSpPr>
        <p:spPr/>
        <p:txBody>
          <a:bodyPr/>
          <a:lstStyle/>
          <a:p>
            <a:r>
              <a:rPr lang="en-IN" dirty="0">
                <a:solidFill>
                  <a:srgbClr val="FF0000"/>
                </a:solidFill>
              </a:rPr>
              <a:t>Identify orders based on payment method</a:t>
            </a:r>
          </a:p>
        </p:txBody>
      </p:sp>
      <p:pic>
        <p:nvPicPr>
          <p:cNvPr id="6" name="Picture Placeholder 5">
            <a:extLst>
              <a:ext uri="{FF2B5EF4-FFF2-40B4-BE49-F238E27FC236}">
                <a16:creationId xmlns:a16="http://schemas.microsoft.com/office/drawing/2014/main" id="{1E2F2486-BD47-33F1-B449-9F4F4322767B}"/>
              </a:ext>
            </a:extLst>
          </p:cNvPr>
          <p:cNvPicPr>
            <a:picLocks noGrp="1" noChangeAspect="1"/>
          </p:cNvPicPr>
          <p:nvPr>
            <p:ph type="pic" idx="1"/>
          </p:nvPr>
        </p:nvPicPr>
        <p:blipFill>
          <a:blip r:embed="rId2"/>
          <a:srcRect l="13664" t="21075" r="26569" b="20860"/>
          <a:stretch>
            <a:fillRect/>
          </a:stretch>
        </p:blipFill>
        <p:spPr>
          <a:xfrm>
            <a:off x="6850453" y="2467895"/>
            <a:ext cx="4857136" cy="3320845"/>
          </a:xfrm>
        </p:spPr>
      </p:pic>
      <p:sp>
        <p:nvSpPr>
          <p:cNvPr id="4" name="Text Placeholder 3">
            <a:extLst>
              <a:ext uri="{FF2B5EF4-FFF2-40B4-BE49-F238E27FC236}">
                <a16:creationId xmlns:a16="http://schemas.microsoft.com/office/drawing/2014/main" id="{086D5CB1-0432-D372-7BEF-F2337C4996C9}"/>
              </a:ext>
            </a:extLst>
          </p:cNvPr>
          <p:cNvSpPr>
            <a:spLocks noGrp="1"/>
          </p:cNvSpPr>
          <p:nvPr>
            <p:ph type="body" sz="half" idx="2"/>
          </p:nvPr>
        </p:nvSpPr>
        <p:spPr>
          <a:xfrm>
            <a:off x="685800" y="2971799"/>
            <a:ext cx="6164653" cy="3320845"/>
          </a:xfrm>
        </p:spPr>
        <p:txBody>
          <a:bodyPr>
            <a:normAutofit/>
          </a:bodyPr>
          <a:lstStyle/>
          <a:p>
            <a:r>
              <a:rPr lang="en-US" b="1" dirty="0"/>
              <a:t>Chart Used: Bar Chart</a:t>
            </a:r>
            <a:endParaRPr lang="en-US" dirty="0"/>
          </a:p>
          <a:p>
            <a:r>
              <a:rPr lang="en-US" b="1" dirty="0"/>
              <a:t>X-Axis: </a:t>
            </a:r>
            <a:r>
              <a:rPr lang="en-US" dirty="0"/>
              <a:t>Payment Method (Debit Card, Credit Card, UPI, Cash on Delivery)</a:t>
            </a:r>
          </a:p>
          <a:p>
            <a:r>
              <a:rPr lang="en-US" b="1" dirty="0"/>
              <a:t>Y-Axis: </a:t>
            </a:r>
            <a:r>
              <a:rPr lang="en-US" dirty="0"/>
              <a:t>Number of Orders</a:t>
            </a:r>
          </a:p>
          <a:p>
            <a:r>
              <a:rPr lang="en-US" b="1" dirty="0"/>
              <a:t>Purpose: </a:t>
            </a:r>
            <a:r>
              <a:rPr lang="en-US" dirty="0"/>
              <a:t>Analyzes customer payment preferences.</a:t>
            </a:r>
          </a:p>
          <a:p>
            <a:endParaRPr lang="en-IN" dirty="0"/>
          </a:p>
        </p:txBody>
      </p:sp>
    </p:spTree>
    <p:extLst>
      <p:ext uri="{BB962C8B-B14F-4D97-AF65-F5344CB8AC3E}">
        <p14:creationId xmlns:p14="http://schemas.microsoft.com/office/powerpoint/2010/main" val="3159468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8B908-21D9-D76D-223C-FD2859171939}"/>
              </a:ext>
            </a:extLst>
          </p:cNvPr>
          <p:cNvSpPr>
            <a:spLocks noGrp="1"/>
          </p:cNvSpPr>
          <p:nvPr>
            <p:ph type="title"/>
          </p:nvPr>
        </p:nvSpPr>
        <p:spPr>
          <a:xfrm>
            <a:off x="685801" y="488373"/>
            <a:ext cx="10131425" cy="665018"/>
          </a:xfrm>
        </p:spPr>
        <p:txBody>
          <a:bodyPr/>
          <a:lstStyle/>
          <a:p>
            <a:r>
              <a:rPr lang="en-IN" dirty="0">
                <a:solidFill>
                  <a:srgbClr val="FF0000"/>
                </a:solidFill>
              </a:rPr>
              <a:t>Dax Measures used</a:t>
            </a:r>
          </a:p>
        </p:txBody>
      </p:sp>
      <p:sp>
        <p:nvSpPr>
          <p:cNvPr id="3" name="Content Placeholder 2">
            <a:extLst>
              <a:ext uri="{FF2B5EF4-FFF2-40B4-BE49-F238E27FC236}">
                <a16:creationId xmlns:a16="http://schemas.microsoft.com/office/drawing/2014/main" id="{58B58854-CDA0-167A-261D-C1660E3F74E0}"/>
              </a:ext>
            </a:extLst>
          </p:cNvPr>
          <p:cNvSpPr>
            <a:spLocks noGrp="1"/>
          </p:cNvSpPr>
          <p:nvPr>
            <p:ph idx="1"/>
          </p:nvPr>
        </p:nvSpPr>
        <p:spPr>
          <a:xfrm>
            <a:off x="685801" y="1435509"/>
            <a:ext cx="10131425" cy="4709652"/>
          </a:xfrm>
        </p:spPr>
        <p:txBody>
          <a:bodyPr>
            <a:normAutofit/>
          </a:bodyPr>
          <a:lstStyle/>
          <a:p>
            <a:pPr>
              <a:lnSpc>
                <a:spcPct val="150000"/>
              </a:lnSpc>
            </a:pPr>
            <a:r>
              <a:rPr lang="en-US" dirty="0"/>
              <a:t>Total Sales = SUM('Amazon sales'[</a:t>
            </a:r>
            <a:r>
              <a:rPr lang="en-US" dirty="0" err="1"/>
              <a:t>Total_Sales</a:t>
            </a:r>
            <a:r>
              <a:rPr lang="en-US" dirty="0"/>
              <a:t>])</a:t>
            </a:r>
          </a:p>
          <a:p>
            <a:pPr>
              <a:lnSpc>
                <a:spcPct val="150000"/>
              </a:lnSpc>
            </a:pPr>
            <a:r>
              <a:rPr lang="en-US" dirty="0"/>
              <a:t>Total Orders = DISTINCTCOUNT('Amazon sales'[</a:t>
            </a:r>
            <a:r>
              <a:rPr lang="en-US" dirty="0" err="1"/>
              <a:t>Order_ID</a:t>
            </a:r>
            <a:r>
              <a:rPr lang="en-US" dirty="0"/>
              <a:t>])</a:t>
            </a:r>
          </a:p>
          <a:p>
            <a:pPr>
              <a:lnSpc>
                <a:spcPct val="150000"/>
              </a:lnSpc>
            </a:pPr>
            <a:r>
              <a:rPr lang="en-IN" dirty="0"/>
              <a:t>Total Quantity Sold = sum('Amazon sales'[Quantity])</a:t>
            </a:r>
          </a:p>
          <a:p>
            <a:pPr>
              <a:lnSpc>
                <a:spcPct val="150000"/>
              </a:lnSpc>
            </a:pPr>
            <a:r>
              <a:rPr lang="en-US" dirty="0"/>
              <a:t>Sales last month = CALCULATE([Total Sales],PARALLELPERIOD('</a:t>
            </a:r>
            <a:r>
              <a:rPr lang="en-US" dirty="0" err="1"/>
              <a:t>Calender</a:t>
            </a:r>
            <a:r>
              <a:rPr lang="en-US" dirty="0"/>
              <a:t>'[</a:t>
            </a:r>
            <a:r>
              <a:rPr lang="en-US" dirty="0" err="1"/>
              <a:t>Order_Date</a:t>
            </a:r>
            <a:r>
              <a:rPr lang="en-US" dirty="0"/>
              <a:t>],-1,MONTH))</a:t>
            </a:r>
          </a:p>
          <a:p>
            <a:pPr>
              <a:lnSpc>
                <a:spcPct val="150000"/>
              </a:lnSpc>
            </a:pPr>
            <a:r>
              <a:rPr lang="en-US" dirty="0"/>
              <a:t>Sales </a:t>
            </a:r>
            <a:r>
              <a:rPr lang="en-US" dirty="0" err="1"/>
              <a:t>Varience</a:t>
            </a:r>
            <a:r>
              <a:rPr lang="en-US" dirty="0"/>
              <a:t> = [Total Sales]-[Sales last month]</a:t>
            </a:r>
          </a:p>
          <a:p>
            <a:pPr>
              <a:lnSpc>
                <a:spcPct val="150000"/>
              </a:lnSpc>
            </a:pPr>
            <a:r>
              <a:rPr lang="en-US" dirty="0"/>
              <a:t>Sales </a:t>
            </a:r>
            <a:r>
              <a:rPr lang="en-US" dirty="0" err="1"/>
              <a:t>Varience</a:t>
            </a:r>
            <a:r>
              <a:rPr lang="en-US" dirty="0"/>
              <a:t>% = DIVIDE([Total Sales],[Sales last month])</a:t>
            </a:r>
          </a:p>
          <a:p>
            <a:endParaRPr lang="en-US" dirty="0"/>
          </a:p>
          <a:p>
            <a:endParaRPr lang="en-US" dirty="0"/>
          </a:p>
          <a:p>
            <a:endParaRPr lang="en-IN" dirty="0"/>
          </a:p>
          <a:p>
            <a:endParaRPr lang="en-IN" dirty="0"/>
          </a:p>
          <a:p>
            <a:endParaRPr lang="en-IN" dirty="0"/>
          </a:p>
        </p:txBody>
      </p:sp>
    </p:spTree>
    <p:extLst>
      <p:ext uri="{BB962C8B-B14F-4D97-AF65-F5344CB8AC3E}">
        <p14:creationId xmlns:p14="http://schemas.microsoft.com/office/powerpoint/2010/main" val="9537376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D219F-FC69-993D-123F-AC461522E3C3}"/>
              </a:ext>
            </a:extLst>
          </p:cNvPr>
          <p:cNvSpPr>
            <a:spLocks noGrp="1"/>
          </p:cNvSpPr>
          <p:nvPr>
            <p:ph type="title"/>
          </p:nvPr>
        </p:nvSpPr>
        <p:spPr/>
        <p:txBody>
          <a:bodyPr/>
          <a:lstStyle/>
          <a:p>
            <a:r>
              <a:rPr lang="en-IN" b="1" dirty="0"/>
              <a:t>conclusion</a:t>
            </a:r>
          </a:p>
        </p:txBody>
      </p:sp>
      <p:sp>
        <p:nvSpPr>
          <p:cNvPr id="3" name="Content Placeholder 2">
            <a:extLst>
              <a:ext uri="{FF2B5EF4-FFF2-40B4-BE49-F238E27FC236}">
                <a16:creationId xmlns:a16="http://schemas.microsoft.com/office/drawing/2014/main" id="{9F238E68-9F8A-506E-29B3-EE0470482069}"/>
              </a:ext>
            </a:extLst>
          </p:cNvPr>
          <p:cNvSpPr>
            <a:spLocks noGrp="1"/>
          </p:cNvSpPr>
          <p:nvPr>
            <p:ph idx="1"/>
          </p:nvPr>
        </p:nvSpPr>
        <p:spPr/>
        <p:txBody>
          <a:bodyPr>
            <a:normAutofit lnSpcReduction="10000"/>
          </a:bodyPr>
          <a:lstStyle/>
          <a:p>
            <a:pPr>
              <a:lnSpc>
                <a:spcPct val="150000"/>
              </a:lnSpc>
            </a:pPr>
            <a:r>
              <a:rPr lang="en-US" sz="2000" dirty="0"/>
              <a:t>The Amazon Sales Dashboard In Power BI Provides A Comprehensive View Of Sales Trends, Product Performance, And Regional Insights, Enabling Data-driven Decisions And Optimized Business Strategies</a:t>
            </a:r>
          </a:p>
          <a:p>
            <a:pPr>
              <a:lnSpc>
                <a:spcPct val="150000"/>
              </a:lnSpc>
            </a:pPr>
            <a:r>
              <a:rPr lang="en-US" sz="2000" dirty="0"/>
              <a:t>In Trend Identification It Enables Spotting Seasonal Trends, Peak Months, And Declining Periods, Helping In Proactive Planning.</a:t>
            </a:r>
          </a:p>
          <a:p>
            <a:pPr>
              <a:lnSpc>
                <a:spcPct val="150000"/>
              </a:lnSpc>
            </a:pPr>
            <a:r>
              <a:rPr lang="en-US" sz="2000" dirty="0"/>
              <a:t>In Performance Monitoring The Facilitates Of Continuous Tracking Of </a:t>
            </a:r>
            <a:r>
              <a:rPr lang="en-US" sz="2000" dirty="0" err="1"/>
              <a:t>Kpis</a:t>
            </a:r>
            <a:r>
              <a:rPr lang="en-US" sz="2000" dirty="0"/>
              <a:t> Like Revenue, Orders, And Quantity, Allowing Timely Interventions For Business Optimization.</a:t>
            </a:r>
          </a:p>
          <a:p>
            <a:endParaRPr lang="en-IN" dirty="0"/>
          </a:p>
        </p:txBody>
      </p:sp>
    </p:spTree>
    <p:extLst>
      <p:ext uri="{BB962C8B-B14F-4D97-AF65-F5344CB8AC3E}">
        <p14:creationId xmlns:p14="http://schemas.microsoft.com/office/powerpoint/2010/main" val="663108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40E3D-88EA-04C2-5883-D32AE36BA941}"/>
              </a:ext>
            </a:extLst>
          </p:cNvPr>
          <p:cNvSpPr>
            <a:spLocks noGrp="1"/>
          </p:cNvSpPr>
          <p:nvPr>
            <p:ph type="title"/>
          </p:nvPr>
        </p:nvSpPr>
        <p:spPr>
          <a:xfrm>
            <a:off x="685801" y="1995055"/>
            <a:ext cx="10661072" cy="3065319"/>
          </a:xfrm>
        </p:spPr>
        <p:txBody>
          <a:bodyPr>
            <a:normAutofit/>
          </a:bodyPr>
          <a:lstStyle/>
          <a:p>
            <a:pPr algn="ctr"/>
            <a:r>
              <a:rPr lang="en-IN" b="1" dirty="0"/>
              <a:t>Thank you</a:t>
            </a:r>
          </a:p>
        </p:txBody>
      </p:sp>
    </p:spTree>
    <p:extLst>
      <p:ext uri="{BB962C8B-B14F-4D97-AF65-F5344CB8AC3E}">
        <p14:creationId xmlns:p14="http://schemas.microsoft.com/office/powerpoint/2010/main" val="41644676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689</TotalTime>
  <Words>821</Words>
  <Application>Microsoft Office PowerPoint</Application>
  <PresentationFormat>Widescreen</PresentationFormat>
  <Paragraphs>100</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Calibri</vt:lpstr>
      <vt:lpstr>Calibri Light</vt:lpstr>
      <vt:lpstr>Wingdings</vt:lpstr>
      <vt:lpstr>Celestial</vt:lpstr>
      <vt:lpstr>Amazon sales analysis</vt:lpstr>
      <vt:lpstr>introduction</vt:lpstr>
      <vt:lpstr>Data overview</vt:lpstr>
      <vt:lpstr>Data cleaning and loading</vt:lpstr>
      <vt:lpstr>Problem statement</vt:lpstr>
      <vt:lpstr>Key metrics and kpi’ s</vt:lpstr>
      <vt:lpstr>questions</vt:lpstr>
      <vt:lpstr>Power bi dashboard overview</vt:lpstr>
      <vt:lpstr>overall sales trend analysis</vt:lpstr>
      <vt:lpstr>Top selling category based on sales</vt:lpstr>
      <vt:lpstr>Identify Top 10 products by sales</vt:lpstr>
      <vt:lpstr>Identify  orders by each city</vt:lpstr>
      <vt:lpstr>Analyse city-wise sales trend</vt:lpstr>
      <vt:lpstr>Month over month analysis and its difference</vt:lpstr>
      <vt:lpstr>Identify orders based on payment method</vt:lpstr>
      <vt:lpstr>Dax Measures used</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tamilbharathi r</dc:creator>
  <cp:lastModifiedBy>tamilbharathi r</cp:lastModifiedBy>
  <cp:revision>9</cp:revision>
  <dcterms:created xsi:type="dcterms:W3CDTF">2026-01-25T05:39:00Z</dcterms:created>
  <dcterms:modified xsi:type="dcterms:W3CDTF">2026-02-03T14:43:16Z</dcterms:modified>
</cp:coreProperties>
</file>